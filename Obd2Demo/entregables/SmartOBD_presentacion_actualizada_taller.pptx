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a64b321262493e" /><Relationship Type="http://schemas.openxmlformats.org/officeDocument/2006/relationships/extended-properties" Target="/docProps/app.xml" Id="R9af9d96182134ccf" /><Relationship Type="http://schemas.openxmlformats.org/officeDocument/2006/relationships/officeDocument" Target="/ppt/presentation.xml" Id="Rc44d3e23182249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acf93f22ff4f5f"/>
  </p:sldMasterIdLst>
  <p:notesMasterIdLst>
    <p:notesMasterId xmlns:r="http://schemas.openxmlformats.org/officeDocument/2006/relationships" r:id="R0b114e74baa54d1f"/>
  </p:notesMasterIdLst>
  <p:sldIdLst>
    <p:sldId xmlns:r="http://schemas.openxmlformats.org/officeDocument/2006/relationships" id="256" r:id="Rf4681a050d94447e"/>
    <p:sldId xmlns:r="http://schemas.openxmlformats.org/officeDocument/2006/relationships" id="257" r:id="R17060d6cffd148b7"/>
    <p:sldId xmlns:r="http://schemas.openxmlformats.org/officeDocument/2006/relationships" id="258" r:id="Re0c3d8e4c99d4762"/>
    <p:sldId xmlns:r="http://schemas.openxmlformats.org/officeDocument/2006/relationships" id="259" r:id="Rdae9c3ae364c4df1"/>
    <p:sldId xmlns:r="http://schemas.openxmlformats.org/officeDocument/2006/relationships" id="260" r:id="Rf6a2fecc48344072"/>
    <p:sldId xmlns:r="http://schemas.openxmlformats.org/officeDocument/2006/relationships" id="261" r:id="Rfc6f760706b34b3c"/>
    <p:sldId xmlns:r="http://schemas.openxmlformats.org/officeDocument/2006/relationships" id="262" r:id="R082e9fee49bb44c5"/>
    <p:sldId xmlns:r="http://schemas.openxmlformats.org/officeDocument/2006/relationships" id="263" r:id="R3755c5e57a3d4c4d"/>
    <p:sldId xmlns:r="http://schemas.openxmlformats.org/officeDocument/2006/relationships" id="264" r:id="Re4d899f0662e4d9d"/>
    <p:sldId xmlns:r="http://schemas.openxmlformats.org/officeDocument/2006/relationships" id="265" r:id="R4035781c7cf1417d"/>
    <p:sldId xmlns:r="http://schemas.openxmlformats.org/officeDocument/2006/relationships" id="266" r:id="Rb28c70384a494106"/>
    <p:sldId xmlns:r="http://schemas.openxmlformats.org/officeDocument/2006/relationships" id="267" r:id="R45d4c05333fc45f1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9a12877d434480" /><Relationship Type="http://schemas.openxmlformats.org/officeDocument/2006/relationships/slideMaster" Target="/ppt/slideMasters/slideMaster1.xml" Id="R2aacf93f22ff4f5f" /><Relationship Type="http://schemas.openxmlformats.org/officeDocument/2006/relationships/notesMaster" Target="/ppt/notesMasters/notesMaster1.xml" Id="R0b114e74baa54d1f" /><Relationship Type="http://schemas.openxmlformats.org/officeDocument/2006/relationships/presProps" Target="/ppt/presProps.xml" Id="R7fbd19758aa248ab" /><Relationship Type="http://schemas.openxmlformats.org/officeDocument/2006/relationships/tableStyles" Target="/ppt/tableStyles.xml" Id="R7e671057220c48c5" /><Relationship Type="http://schemas.openxmlformats.org/officeDocument/2006/relationships/slide" Target="/ppt/slides/slide1.xml" Id="Rf4681a050d94447e" /><Relationship Type="http://schemas.openxmlformats.org/officeDocument/2006/relationships/slide" Target="/ppt/slides/slide2.xml" Id="R17060d6cffd148b7" /><Relationship Type="http://schemas.openxmlformats.org/officeDocument/2006/relationships/slide" Target="/ppt/slides/slide3.xml" Id="Re0c3d8e4c99d4762" /><Relationship Type="http://schemas.openxmlformats.org/officeDocument/2006/relationships/slide" Target="/ppt/slides/slide4.xml" Id="Rdae9c3ae364c4df1" /><Relationship Type="http://schemas.openxmlformats.org/officeDocument/2006/relationships/slide" Target="/ppt/slides/slide5.xml" Id="Rf6a2fecc48344072" /><Relationship Type="http://schemas.openxmlformats.org/officeDocument/2006/relationships/slide" Target="/ppt/slides/slide6.xml" Id="Rfc6f760706b34b3c" /><Relationship Type="http://schemas.openxmlformats.org/officeDocument/2006/relationships/slide" Target="/ppt/slides/slide7.xml" Id="R082e9fee49bb44c5" /><Relationship Type="http://schemas.openxmlformats.org/officeDocument/2006/relationships/slide" Target="/ppt/slides/slide8.xml" Id="R3755c5e57a3d4c4d" /><Relationship Type="http://schemas.openxmlformats.org/officeDocument/2006/relationships/slide" Target="/ppt/slides/slide9.xml" Id="Re4d899f0662e4d9d" /><Relationship Type="http://schemas.openxmlformats.org/officeDocument/2006/relationships/slide" Target="/ppt/slides/slide10.xml" Id="R4035781c7cf1417d" /><Relationship Type="http://schemas.openxmlformats.org/officeDocument/2006/relationships/slide" Target="/ppt/slides/slide11.xml" Id="Rb28c70384a494106" /><Relationship Type="http://schemas.openxmlformats.org/officeDocument/2006/relationships/slide" Target="/ppt/slides/slide12.xml" Id="R45d4c05333fc45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86a696f9fc41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cc093933bc47fe" /><Relationship Type="http://schemas.openxmlformats.org/officeDocument/2006/relationships/notesMaster" Target="/ppt/notesMasters/notesMaster1.xml" Id="R8d1a01ad14284a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31bb9b7ab64726" /><Relationship Type="http://schemas.openxmlformats.org/officeDocument/2006/relationships/notesMaster" Target="/ppt/notesMasters/notesMaster1.xml" Id="Rb0869b9bd8284c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f079e0cae24957" /><Relationship Type="http://schemas.openxmlformats.org/officeDocument/2006/relationships/notesMaster" Target="/ppt/notesMasters/notesMaster1.xml" Id="Rabcff9a140c54f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e3ad79622744e8" /><Relationship Type="http://schemas.openxmlformats.org/officeDocument/2006/relationships/notesMaster" Target="/ppt/notesMasters/notesMaster1.xml" Id="R6b6ba89d48184c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5926062f3f46e3" /><Relationship Type="http://schemas.openxmlformats.org/officeDocument/2006/relationships/notesMaster" Target="/ppt/notesMasters/notesMaster1.xml" Id="Rc9063afc444f4e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f6d99967514056" /><Relationship Type="http://schemas.openxmlformats.org/officeDocument/2006/relationships/notesMaster" Target="/ppt/notesMasters/notesMaster1.xml" Id="Rf26da538a98642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8308e247de46bb" /><Relationship Type="http://schemas.openxmlformats.org/officeDocument/2006/relationships/notesMaster" Target="/ppt/notesMasters/notesMaster1.xml" Id="Rb1425e40446141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10977f583c4dfd" /><Relationship Type="http://schemas.openxmlformats.org/officeDocument/2006/relationships/notesMaster" Target="/ppt/notesMasters/notesMaster1.xml" Id="R2d55a2ae83d847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aba8dba6104b79" /><Relationship Type="http://schemas.openxmlformats.org/officeDocument/2006/relationships/notesMaster" Target="/ppt/notesMasters/notesMaster1.xml" Id="R1dae1d69bed24f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477c55df9a4e65" /><Relationship Type="http://schemas.openxmlformats.org/officeDocument/2006/relationships/notesMaster" Target="/ppt/notesMasters/notesMaster1.xml" Id="Rcb35b6c7db9d406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225805c3d4d4a96" /><Relationship Type="http://schemas.openxmlformats.org/officeDocument/2006/relationships/notesMaster" Target="/ppt/notesMasters/notesMaster1.xml" Id="R9a8689054ce74c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09369ecc0fd4ff2" /><Relationship Type="http://schemas.openxmlformats.org/officeDocument/2006/relationships/notesMaster" Target="/ppt/notesMasters/notesMaster1.xml" Id="R5d5ae2be54c04e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a7534c98ba4d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63c6734cdc446b" /><Relationship Type="http://schemas.openxmlformats.org/officeDocument/2006/relationships/slideLayout" Target="/ppt/slideLayouts/slideLayout1.xml" Id="Rd0367803140040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367803140040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021780c2846e1" /><Relationship Type="http://schemas.openxmlformats.org/officeDocument/2006/relationships/image" Target="/ppt/media/image.png" Id="R7a503e7866354488" /><Relationship Type="http://schemas.openxmlformats.org/officeDocument/2006/relationships/notesSlide" Target="/ppt/notesSlides/notesSlide1.xml" Id="R47a8b22c18d348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a5b10df554036" /><Relationship Type="http://schemas.openxmlformats.org/officeDocument/2006/relationships/image" Target="/ppt/media/image2.png" Id="Rf37a5d7ce74a4276" /><Relationship Type="http://schemas.openxmlformats.org/officeDocument/2006/relationships/notesSlide" Target="/ppt/notesSlides/notesSlide2.xml" Id="R3040c98296dc45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ba53f803d4bd0" /><Relationship Type="http://schemas.openxmlformats.org/officeDocument/2006/relationships/image" Target="/ppt/media/image3.png" Id="R3147b93495f24388" /><Relationship Type="http://schemas.openxmlformats.org/officeDocument/2006/relationships/notesSlide" Target="/ppt/notesSlides/notesSlide3.xml" Id="R6c0795ee159d4b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6cf92a11240d1" /><Relationship Type="http://schemas.openxmlformats.org/officeDocument/2006/relationships/image" Target="/ppt/media/image4.png" Id="Redb53269b4ca4551" /><Relationship Type="http://schemas.openxmlformats.org/officeDocument/2006/relationships/notesSlide" Target="/ppt/notesSlides/notesSlide4.xml" Id="Rcaff198371a44e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285d2ce9d40f1" /><Relationship Type="http://schemas.openxmlformats.org/officeDocument/2006/relationships/image" Target="/ppt/media/image5.png" Id="R9728954a1b0346cf" /><Relationship Type="http://schemas.openxmlformats.org/officeDocument/2006/relationships/notesSlide" Target="/ppt/notesSlides/notesSlide5.xml" Id="Rb7d50732465741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624af907d4e76" /><Relationship Type="http://schemas.openxmlformats.org/officeDocument/2006/relationships/image" Target="/ppt/media/image6.png" Id="R67e2d97284e34354" /><Relationship Type="http://schemas.openxmlformats.org/officeDocument/2006/relationships/notesSlide" Target="/ppt/notesSlides/notesSlide6.xml" Id="R306dfb39c3ca43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8fefeecc846da" /><Relationship Type="http://schemas.openxmlformats.org/officeDocument/2006/relationships/image" Target="/ppt/media/image7.png" Id="R1c395138bcdb457b" /><Relationship Type="http://schemas.openxmlformats.org/officeDocument/2006/relationships/notesSlide" Target="/ppt/notesSlides/notesSlide7.xml" Id="R50a8a39d515148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fd3ab2d2d491a" /><Relationship Type="http://schemas.openxmlformats.org/officeDocument/2006/relationships/image" Target="/ppt/media/image8.png" Id="Re2c3fb86e1494ec6" /><Relationship Type="http://schemas.openxmlformats.org/officeDocument/2006/relationships/notesSlide" Target="/ppt/notesSlides/notesSlide8.xml" Id="R35a00e1f597a4f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5cfd7e99a48d6" /><Relationship Type="http://schemas.openxmlformats.org/officeDocument/2006/relationships/image" Target="/ppt/media/image9.png" Id="Rc02f8b721b2b44f5" /><Relationship Type="http://schemas.openxmlformats.org/officeDocument/2006/relationships/notesSlide" Target="/ppt/notesSlides/notesSlide9.xml" Id="Raf964289c9b648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fd26e0e734c14" /><Relationship Type="http://schemas.openxmlformats.org/officeDocument/2006/relationships/image" Target="/ppt/media/image10.png" Id="R37953eb5d12941ea" /><Relationship Type="http://schemas.openxmlformats.org/officeDocument/2006/relationships/notesSlide" Target="/ppt/notesSlides/notesSlide10.xml" Id="R753aa8114b2c48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814f90e29417a" /><Relationship Type="http://schemas.openxmlformats.org/officeDocument/2006/relationships/image" Target="/ppt/media/image11.png" Id="Rc1c27b7077834c71" /><Relationship Type="http://schemas.openxmlformats.org/officeDocument/2006/relationships/notesSlide" Target="/ppt/notesSlides/notesSlide11.xml" Id="Rb0e2774070cf4f9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6a62904344353" /><Relationship Type="http://schemas.openxmlformats.org/officeDocument/2006/relationships/image" Target="/ppt/media/image12.png" Id="R6e745fd64cdf442f" /><Relationship Type="http://schemas.openxmlformats.org/officeDocument/2006/relationships/notesSlide" Target="/ppt/notesSlides/notesSlide12.xml" Id="R92a4989c3bc747a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503e786635448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7F924-D156-4748-866E-143E5406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0577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9374D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9374D"/>
                </a:solidFill>
                <a:latin typeface="Calibri"/>
                <a:ea typeface="Calibri"/>
                <a:cs typeface="Calibri"/>
              </a:rPr>
              <a:t>Diagnóstico asistido y gestión para talleres</a:t>
            </a:r>
          </a:p>
        </p:txBody>
      </p:sp>
    </p:spTree>
    <p:extLst>
      <p:ext uri="{BB962C8B-B14F-4D97-AF65-F5344CB8AC3E}">
        <p14:creationId xmlns:p14="http://schemas.microsoft.com/office/powerpoint/2010/main" val="11544255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7a5d7ce74a427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8432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47b93495f2438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B8A02C-4E04-41A6-9230-28D42610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43125"/>
            <a:ext cx="11096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8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F254E-6AA6-4FAE-8DC0-82A96103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383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937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9374D"/>
                </a:solidFill>
                <a:latin typeface="Calibri"/>
                <a:ea typeface="Calibri"/>
                <a:cs typeface="Calibri"/>
              </a:rPr>
              <a:t>En muchos talleres, los antecedentes del cliente, la información del vehículo y los resultados del escáner quedan separados. Esto retrasa el traspaso desde recepción al mecánico y dificulta mantener un historial claro de cada diagnóstico.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87BA0-9480-4142-B289-20F12A10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581400"/>
            <a:ext cx="4972050" cy="3343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98A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900E2E-46D9-46AA-AE7A-24F0CCA3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957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937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9374D"/>
                </a:solidFill>
                <a:latin typeface="Calibri"/>
                <a:ea typeface="Calibri"/>
                <a:cs typeface="Calibri"/>
              </a:rPr>
              <a:t>Impacto operacional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7C2CD-0B3C-4755-8661-458E83EC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71950"/>
            <a:ext cx="4572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425" b="0">
                <a:solidFill>
                  <a:srgbClr val="19374D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9374D"/>
                </a:solidFill>
                <a:latin typeface="Calibri"/>
                <a:ea typeface="Calibri"/>
                <a:cs typeface="Calibri"/>
              </a:rPr>
              <a:t>Información de clientes, vehículos y diagnósticos dispersa.</a:t>
            </a:r>
          </a:p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425" b="0">
                <a:solidFill>
                  <a:srgbClr val="19374D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9374D"/>
                </a:solidFill>
                <a:latin typeface="Calibri"/>
                <a:ea typeface="Calibri"/>
                <a:cs typeface="Calibri"/>
              </a:rPr>
              <a:t>Traspaso manual de antecedentes entre recepción y mecánicos.</a:t>
            </a:r>
          </a:p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425" b="0">
                <a:solidFill>
                  <a:srgbClr val="19374D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9374D"/>
                </a:solidFill>
                <a:latin typeface="Calibri"/>
                <a:ea typeface="Calibri"/>
                <a:cs typeface="Calibri"/>
              </a:rPr>
              <a:t>Poco seguimiento de casos, asignaciones e historial.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4656A-4DE3-464E-BF38-731D22B6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81400"/>
            <a:ext cx="4972050" cy="3343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98A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266F93-16F5-41F2-869F-7684BF30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957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937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9374D"/>
                </a:solidFill>
                <a:latin typeface="Calibri"/>
                <a:ea typeface="Calibri"/>
                <a:cs typeface="Calibri"/>
              </a:rPr>
              <a:t>Impacto en el taller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38E704-0347-4CF1-8E86-D91579B9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71950"/>
            <a:ext cx="442912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425" b="0">
                <a:solidFill>
                  <a:srgbClr val="19374D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9374D"/>
                </a:solidFill>
                <a:latin typeface="Calibri"/>
                <a:ea typeface="Calibri"/>
                <a:cs typeface="Calibri"/>
              </a:rPr>
              <a:t>Más tiempo para reunir y contextualizar antecedentes.</a:t>
            </a:r>
          </a:p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425" b="0">
                <a:solidFill>
                  <a:srgbClr val="19374D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9374D"/>
                </a:solidFill>
                <a:latin typeface="Calibri"/>
                <a:ea typeface="Calibri"/>
                <a:cs typeface="Calibri"/>
              </a:rPr>
              <a:t>Datos OBD-II difíciles de relacionar con el motivo de ingreso.</a:t>
            </a:r>
          </a:p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425" b="0">
                <a:solidFill>
                  <a:srgbClr val="19374D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9374D"/>
                </a:solidFill>
                <a:latin typeface="Calibri"/>
                <a:ea typeface="Calibri"/>
                <a:cs typeface="Calibri"/>
              </a:rPr>
              <a:t>Menor trazabilidad de decisiones y evidencias del diagnóstico.</a:t>
            </a:r>
          </a:p>
        </p:txBody>
      </p:sp>
    </p:spTree>
    <p:extLst>
      <p:ext uri="{BB962C8B-B14F-4D97-AF65-F5344CB8AC3E}">
        <p14:creationId xmlns:p14="http://schemas.microsoft.com/office/powerpoint/2010/main" val="17839537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53269b4ca455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70DD47-F871-40E5-B8EB-D8F20FFA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162050"/>
            <a:ext cx="12573000" cy="1971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8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519F9-D43E-4ADC-BF66-2F234D7C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257300"/>
            <a:ext cx="11315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937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9374D"/>
                </a:solidFill>
                <a:latin typeface="Calibri"/>
                <a:ea typeface="Calibri"/>
                <a:cs typeface="Calibri"/>
              </a:rPr>
              <a:t>SmartOBD propone una aplicación Android para talleres que integra el registro del cliente y su vehículo, la lectura OBD-II, el apoyo del chatbot y la asignación del diagnóstico al personal del taller.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488F5-3C62-4420-A780-3BE4BEF1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000500"/>
            <a:ext cx="33718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88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D02AC3-559C-4862-845E-B37A840A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095750"/>
            <a:ext cx="31813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313" b="0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REGISTRO DE USUARIOS,</a:t>
            </a:r>
          </a:p>
          <a:p xmlns:a="http://schemas.openxmlformats.org/drawingml/2006/main">
            <a:pPr algn="ctr">
              <a:defRPr sz="1313" b="0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313" b="0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CLIENTES Y VEHÍCULOS</a:t>
            </a:r>
          </a:p>
          <a:p xmlns:a="http://schemas.openxmlformats.org/drawingml/2006/main">
            <a:pPr algn="ctr">
              <a:defRPr sz="1313" b="0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313" b="0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PARA CENTRALIZAR LOS</a:t>
            </a:r>
          </a:p>
          <a:p xmlns:a="http://schemas.openxmlformats.org/drawingml/2006/main">
            <a:pPr algn="ctr">
              <a:defRPr sz="1313" b="0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313" b="0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ANTECEDENTES DEL TALLER.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E4C2A-BF4E-468C-A5BC-E2D91E37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00500"/>
            <a:ext cx="30670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88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9B21A7-8888-41F2-A4D8-9EA2E085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95750"/>
            <a:ext cx="28765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313" b="0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CONEXIÓN CON ELM327</a:t>
            </a:r>
          </a:p>
          <a:p xmlns:a="http://schemas.openxmlformats.org/drawingml/2006/main">
            <a:pPr algn="ctr">
              <a:defRPr sz="1313" b="0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313" b="0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PARA OBTENER DATOS</a:t>
            </a:r>
          </a:p>
          <a:p xmlns:a="http://schemas.openxmlformats.org/drawingml/2006/main">
            <a:pPr algn="ctr">
              <a:defRPr sz="1313" b="0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313" b="0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REALES DEL VEHÍCULO Y</a:t>
            </a:r>
          </a:p>
          <a:p xmlns:a="http://schemas.openxmlformats.org/drawingml/2006/main">
            <a:pPr algn="ctr">
              <a:defRPr sz="1313" b="0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313" b="0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CÓDIGOS DE FALLA.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0EC75F-E369-4D40-B98A-AEDCE560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00500"/>
            <a:ext cx="30670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88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3830C-FBFC-4E35-A4DD-006170BB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95750"/>
            <a:ext cx="28765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313" b="0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CHATBOT DE APOYO PARA</a:t>
            </a:r>
          </a:p>
          <a:p xmlns:a="http://schemas.openxmlformats.org/drawingml/2006/main">
            <a:pPr algn="ctr">
              <a:defRPr sz="1313" b="0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313" b="0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EXPLICAR RESULTADOS,</a:t>
            </a:r>
          </a:p>
          <a:p xmlns:a="http://schemas.openxmlformats.org/drawingml/2006/main">
            <a:pPr algn="ctr">
              <a:defRPr sz="1313" b="0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313" b="0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PROPONER VERIFICACIONES</a:t>
            </a:r>
          </a:p>
          <a:p xmlns:a="http://schemas.openxmlformats.org/drawingml/2006/main">
            <a:pPr algn="ctr">
              <a:defRPr sz="1313" b="0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313" b="0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Y ORDENAR EL DIAGNÓSTICO.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8D0311-6920-4791-A19C-D49FA2A7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4000500"/>
            <a:ext cx="298132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8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3815CB-D200-4E16-B23E-E0BE9B58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4095750"/>
            <a:ext cx="27908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313" b="0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GESTIÓN DE CASOS,</a:t>
            </a:r>
          </a:p>
          <a:p xmlns:a="http://schemas.openxmlformats.org/drawingml/2006/main">
            <a:pPr algn="ctr">
              <a:defRPr sz="1313" b="0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313" b="0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HISTORIAL Y ASIGNACIÓN</a:t>
            </a:r>
          </a:p>
          <a:p xmlns:a="http://schemas.openxmlformats.org/drawingml/2006/main">
            <a:pPr algn="ctr">
              <a:defRPr sz="1313" b="0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313" b="0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ENTRE RECEPCIÓN Y</a:t>
            </a:r>
          </a:p>
          <a:p xmlns:a="http://schemas.openxmlformats.org/drawingml/2006/main">
            <a:pPr algn="ctr">
              <a:defRPr sz="1313" b="0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313" b="0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MECÁNICOS.</a:t>
            </a:r>
          </a:p>
        </p:txBody>
      </p:sp>
    </p:spTree>
    <p:extLst>
      <p:ext uri="{BB962C8B-B14F-4D97-AF65-F5344CB8AC3E}">
        <p14:creationId xmlns:p14="http://schemas.microsoft.com/office/powerpoint/2010/main" val="23469539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28954a1b0346c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1B699-DC95-4C66-A29C-6E211174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810125"/>
            <a:ext cx="2286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88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31BD9-7788-4253-A62B-6E473746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029200"/>
            <a:ext cx="2057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177800" indent="-88900" algn="l">
              <a:spcAft>
                <a:spcPts val="800"/>
              </a:spcAft>
              <a:buChar char="•"/>
              <a:defRPr sz="1163" b="0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REACT NATIVE</a:t>
            </a:r>
          </a:p>
          <a:p xmlns:a="http://schemas.openxmlformats.org/drawingml/2006/main">
            <a:pPr marL="177800" indent="-88900" algn="l">
              <a:spcAft>
                <a:spcPts val="800"/>
              </a:spcAft>
              <a:buChar char="•"/>
              <a:defRPr sz="1163" b="0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TYPESCRIPT</a:t>
            </a:r>
          </a:p>
          <a:p xmlns:a="http://schemas.openxmlformats.org/drawingml/2006/main">
            <a:pPr marL="177800" indent="-88900" algn="l">
              <a:spcAft>
                <a:spcPts val="800"/>
              </a:spcAft>
              <a:buChar char="•"/>
              <a:defRPr sz="1163" b="0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ANDROID / METRO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7C5EE-BCCB-4C85-A470-1798441C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810125"/>
            <a:ext cx="2495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88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318D89-1F92-4B2F-93E4-A51EBC03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29200"/>
            <a:ext cx="22669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177800" indent="-88900" algn="l">
              <a:spcAft>
                <a:spcPts val="800"/>
              </a:spcAft>
              <a:buChar char="•"/>
              <a:defRPr sz="1163" b="0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BLUETOOTH / BLE</a:t>
            </a:r>
          </a:p>
          <a:p xmlns:a="http://schemas.openxmlformats.org/drawingml/2006/main">
            <a:pPr marL="177800" indent="-88900" algn="l">
              <a:spcAft>
                <a:spcPts val="800"/>
              </a:spcAft>
              <a:buChar char="•"/>
              <a:defRPr sz="1163" b="0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ELM327</a:t>
            </a:r>
          </a:p>
          <a:p xmlns:a="http://schemas.openxmlformats.org/drawingml/2006/main">
            <a:pPr marL="177800" indent="-88900" algn="l">
              <a:spcAft>
                <a:spcPts val="800"/>
              </a:spcAft>
              <a:buChar char="•"/>
              <a:defRPr sz="1163" b="0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COMANDOS AT Y OBD-II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2284C-C7A6-4029-888B-C3A22EBE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810125"/>
            <a:ext cx="2247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88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85C05E-D300-4E78-A046-A1144C2D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5029200"/>
            <a:ext cx="20193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177800" indent="-88900" algn="l">
              <a:spcAft>
                <a:spcPts val="800"/>
              </a:spcAft>
              <a:buChar char="•"/>
              <a:defRPr sz="1163" b="0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LECTURAS Y DTC</a:t>
            </a:r>
          </a:p>
          <a:p xmlns:a="http://schemas.openxmlformats.org/drawingml/2006/main">
            <a:pPr marL="177800" indent="-88900" algn="l">
              <a:spcAft>
                <a:spcPts val="800"/>
              </a:spcAft>
              <a:buChar char="•"/>
              <a:defRPr sz="1163" b="0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REGISTRO E HISTORIAL</a:t>
            </a:r>
          </a:p>
          <a:p xmlns:a="http://schemas.openxmlformats.org/drawingml/2006/main">
            <a:pPr marL="177800" indent="-88900" algn="l">
              <a:spcAft>
                <a:spcPts val="800"/>
              </a:spcAft>
              <a:buChar char="•"/>
              <a:defRPr sz="1163" b="0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CHATBOT (PLANIFICADO)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0EDFE9-0D70-4F4A-8F37-194EA34F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810125"/>
            <a:ext cx="25336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88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ECF0EE-40F7-4DF2-AE06-C6AB8068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029200"/>
            <a:ext cx="23050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177800" indent="-88900" algn="l">
              <a:spcAft>
                <a:spcPts val="800"/>
              </a:spcAft>
              <a:buChar char="•"/>
              <a:defRPr sz="1163" b="0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JEST / TESTS</a:t>
            </a:r>
          </a:p>
          <a:p xmlns:a="http://schemas.openxmlformats.org/drawingml/2006/main">
            <a:pPr marL="177800" indent="-88900" algn="l">
              <a:spcAft>
                <a:spcPts val="800"/>
              </a:spcAft>
              <a:buChar char="•"/>
              <a:defRPr sz="1163" b="0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VALIDACIÓN DE SERVICIOS</a:t>
            </a:r>
          </a:p>
          <a:p xmlns:a="http://schemas.openxmlformats.org/drawingml/2006/main">
            <a:pPr marL="177800" indent="-88900" algn="l">
              <a:spcAft>
                <a:spcPts val="800"/>
              </a:spcAft>
              <a:buChar char="•"/>
              <a:defRPr sz="1163" b="0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MANEJO DE ERRORES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D44210-CB9D-4A8B-9EEF-393DCC72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4810125"/>
            <a:ext cx="21717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8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DC14FE-354D-4243-8394-9A7DDE77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5029200"/>
            <a:ext cx="19431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177800" indent="-88900" algn="l">
              <a:spcAft>
                <a:spcPts val="800"/>
              </a:spcAft>
              <a:buChar char="•"/>
              <a:defRPr sz="1163" b="0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GIT / GITHUB</a:t>
            </a:r>
          </a:p>
          <a:p xmlns:a="http://schemas.openxmlformats.org/drawingml/2006/main">
            <a:pPr marL="177800" indent="-88900" algn="l">
              <a:spcAft>
                <a:spcPts val="800"/>
              </a:spcAft>
              <a:buChar char="•"/>
              <a:defRPr sz="1163" b="0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SUPABASE (PLANIFICADO)</a:t>
            </a:r>
          </a:p>
          <a:p xmlns:a="http://schemas.openxmlformats.org/drawingml/2006/main">
            <a:pPr marL="177800" indent="-88900" algn="l">
              <a:spcAft>
                <a:spcPts val="800"/>
              </a:spcAft>
              <a:buChar char="•"/>
              <a:defRPr sz="1163" b="0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ANDROID STUDIO / GRADLE</a:t>
            </a:r>
          </a:p>
        </p:txBody>
      </p:sp>
    </p:spTree>
    <p:extLst>
      <p:ext uri="{BB962C8B-B14F-4D97-AF65-F5344CB8AC3E}">
        <p14:creationId xmlns:p14="http://schemas.microsoft.com/office/powerpoint/2010/main" val="15000482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e2d97284e3435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4367C-553E-4F07-8671-7F553856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62200"/>
            <a:ext cx="5095875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8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5DCFAA-60E4-452E-9B61-9B957E33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62200"/>
            <a:ext cx="50958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38" b="0">
                <a:solidFill>
                  <a:srgbClr val="19374D"/>
                </a:solidFill>
                <a:latin typeface="Calibri"/>
                <a:ea typeface="Calibri"/>
                <a:cs typeface="Calibri"/>
              </a:defRPr>
            </a:pPr>
            <a:r>
              <a:rPr sz="1538" b="0">
                <a:solidFill>
                  <a:srgbClr val="19374D"/>
                </a:solidFill>
                <a:latin typeface="Calibri"/>
                <a:ea typeface="Calibri"/>
                <a:cs typeface="Calibri"/>
              </a:rPr>
              <a:t>Aborda una necesidad real del taller y combina desarrollo móvil, comunicación con hardware, gestión de información y asistencia inteligente en un mismo sistema.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0C07C-F587-45C8-9463-746F9A75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62200"/>
            <a:ext cx="5410200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8E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40029E-03CF-45F7-80A8-FA464D95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62200"/>
            <a:ext cx="54102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38" b="0">
                <a:solidFill>
                  <a:srgbClr val="19374D"/>
                </a:solidFill>
                <a:latin typeface="Calibri"/>
                <a:ea typeface="Calibri"/>
                <a:cs typeface="Calibri"/>
              </a:defRPr>
            </a:pPr>
            <a:r>
              <a:rPr sz="1538" b="0">
                <a:solidFill>
                  <a:srgbClr val="19374D"/>
                </a:solidFill>
                <a:latin typeface="Calibri"/>
                <a:ea typeface="Calibri"/>
                <a:cs typeface="Calibri"/>
              </a:rPr>
              <a:t>Al personal de recepción, mecánicos y administradores del taller. El cliente se beneficia mediante una atención más ordenada y con mayor trazabilidad.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116A20-5FC6-4087-94EF-D8CEA909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791075"/>
            <a:ext cx="50958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8E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5F5B3C-9884-43E1-B8BA-8DC3B492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791075"/>
            <a:ext cx="50958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38" b="0">
                <a:solidFill>
                  <a:srgbClr val="19374D"/>
                </a:solidFill>
                <a:latin typeface="Calibri"/>
                <a:ea typeface="Calibri"/>
                <a:cs typeface="Calibri"/>
              </a:defRPr>
            </a:pPr>
            <a:r>
              <a:rPr sz="1538" b="0">
                <a:solidFill>
                  <a:srgbClr val="19374D"/>
                </a:solidFill>
                <a:latin typeface="Calibri"/>
                <a:ea typeface="Calibri"/>
                <a:cs typeface="Calibri"/>
              </a:rPr>
              <a:t>En talleres automotrices que reciben vehículos compatibles con OBD-II y necesitan centralizar antecedentes, lecturas del escáner y seguimiento del diagnóstico.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BC4-5CC9-40A9-8547-86E55486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91075"/>
            <a:ext cx="54102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8E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534A66-DB10-4387-B782-287DED7C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91075"/>
            <a:ext cx="54102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38" b="0">
                <a:solidFill>
                  <a:srgbClr val="19374D"/>
                </a:solidFill>
                <a:latin typeface="Calibri"/>
                <a:ea typeface="Calibri"/>
                <a:cs typeface="Calibri"/>
              </a:defRPr>
            </a:pPr>
            <a:r>
              <a:rPr sz="1538" b="0">
                <a:solidFill>
                  <a:srgbClr val="19374D"/>
                </a:solidFill>
                <a:latin typeface="Calibri"/>
                <a:ea typeface="Calibri"/>
                <a:cs typeface="Calibri"/>
              </a:rPr>
              <a:t>Conecta la recepción del vehículo con el trabajo técnico. Reúne antecedentes, datos OBD-II, historial y asignaciones, con un chatbot que apoya la interpretación.</a:t>
            </a:r>
          </a:p>
        </p:txBody>
      </p:sp>
    </p:spTree>
    <p:extLst>
      <p:ext uri="{BB962C8B-B14F-4D97-AF65-F5344CB8AC3E}">
        <p14:creationId xmlns:p14="http://schemas.microsoft.com/office/powerpoint/2010/main" val="111851293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395138bcdb457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F04FCD-6212-4B40-A07B-1FC7A6BA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76650"/>
            <a:ext cx="2724150" cy="2257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2AC28-569E-4FD4-8261-FBE7F374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781425"/>
            <a:ext cx="24574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177800" indent="-88900" algn="l">
              <a:spcAft>
                <a:spcPts val="1700"/>
              </a:spcAft>
              <a:buChar char="•"/>
              <a:defRPr sz="1088" b="1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088" b="1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BASE BLUETOOTH Y OBD-II YA FUNCIONAL.</a:t>
            </a:r>
          </a:p>
          <a:p xmlns:a="http://schemas.openxmlformats.org/drawingml/2006/main">
            <a:pPr marL="177800" indent="-88900" algn="l">
              <a:spcAft>
                <a:spcPts val="1700"/>
              </a:spcAft>
              <a:buChar char="•"/>
              <a:defRPr sz="1088" b="1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088" b="1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ARQUITECTURA MODULAR CON PRUEBAS.</a:t>
            </a:r>
          </a:p>
          <a:p xmlns:a="http://schemas.openxmlformats.org/drawingml/2006/main">
            <a:pPr marL="177800" indent="-88900" algn="l">
              <a:spcAft>
                <a:spcPts val="1700"/>
              </a:spcAft>
              <a:buChar char="•"/>
              <a:defRPr sz="1088" b="1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088" b="1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DESARROLLO INCREMENTAL POR MÓDULOS.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2D638-1683-44F1-8B69-AD04187F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676650"/>
            <a:ext cx="2724150" cy="2257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4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CD131-565B-45A5-A5C1-D8A92A2C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781425"/>
            <a:ext cx="24574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177800" indent="-88900" algn="l">
              <a:spcAft>
                <a:spcPts val="1700"/>
              </a:spcAft>
              <a:buChar char="•"/>
              <a:defRPr sz="1088" b="1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088" b="1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TELÉFONOS ANDROID Y ESCÁNER ELM327.</a:t>
            </a:r>
          </a:p>
          <a:p xmlns:a="http://schemas.openxmlformats.org/drawingml/2006/main">
            <a:pPr marL="177800" indent="-88900" algn="l">
              <a:spcAft>
                <a:spcPts val="1700"/>
              </a:spcAft>
              <a:buChar char="•"/>
              <a:defRPr sz="1088" b="1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088" b="1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VEHÍCULOS REALES PARA VALIDACIÓN.</a:t>
            </a:r>
          </a:p>
          <a:p xmlns:a="http://schemas.openxmlformats.org/drawingml/2006/main">
            <a:pPr marL="177800" indent="-88900" algn="l">
              <a:spcAft>
                <a:spcPts val="1700"/>
              </a:spcAft>
              <a:buChar char="•"/>
              <a:defRPr sz="1088" b="1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088" b="1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GITHUB Y PLAN GRATUITO DE SUPABASE.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D94EFC-F66D-4105-826F-94A0F25C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76650"/>
            <a:ext cx="2724150" cy="2257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4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A03FFF-785A-4249-AE50-7DB14917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81425"/>
            <a:ext cx="24574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177800" indent="-88900" algn="l">
              <a:spcAft>
                <a:spcPts val="1700"/>
              </a:spcAft>
              <a:buChar char="•"/>
              <a:defRPr sz="1088" b="1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088" b="1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PLANIFICACIÓN ORGANIZADA EN 18 SEMANAS.</a:t>
            </a:r>
          </a:p>
          <a:p xmlns:a="http://schemas.openxmlformats.org/drawingml/2006/main">
            <a:pPr marL="177800" indent="-88900" algn="l">
              <a:spcAft>
                <a:spcPts val="1700"/>
              </a:spcAft>
              <a:buChar char="•"/>
              <a:defRPr sz="1088" b="1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088" b="1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NÚCLEO OBD-II VALIDADO.</a:t>
            </a:r>
          </a:p>
          <a:p xmlns:a="http://schemas.openxmlformats.org/drawingml/2006/main">
            <a:pPr marL="177800" indent="-88900" algn="l">
              <a:spcAft>
                <a:spcPts val="1700"/>
              </a:spcAft>
              <a:buChar char="•"/>
              <a:defRPr sz="1088" b="1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088" b="1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INTEGRACIÓN PROGRESIVA DEL SISTEMA DE TALLER.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29FB3-A55E-441A-9E80-C15FB0B9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676650"/>
            <a:ext cx="2724150" cy="2257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4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AC25E-1FCF-475B-95CE-F1824E7D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81425"/>
            <a:ext cx="24574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177800" indent="-88900" algn="l">
              <a:spcAft>
                <a:spcPts val="1700"/>
              </a:spcAft>
              <a:buChar char="•"/>
              <a:defRPr sz="1088" b="1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088" b="1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COMPATIBILIDAD ENTRE ESCÁNERES Y VEHÍCULOS.</a:t>
            </a:r>
          </a:p>
          <a:p xmlns:a="http://schemas.openxmlformats.org/drawingml/2006/main">
            <a:pPr marL="177800" indent="-88900" algn="l">
              <a:spcAft>
                <a:spcPts val="1700"/>
              </a:spcAft>
              <a:buChar char="•"/>
              <a:defRPr sz="1088" b="1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088" b="1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DEPENDENCIA DE PRUEBAS EN TALLER.</a:t>
            </a:r>
          </a:p>
          <a:p xmlns:a="http://schemas.openxmlformats.org/drawingml/2006/main">
            <a:pPr marL="177800" indent="-88900" algn="l">
              <a:spcAft>
                <a:spcPts val="1700"/>
              </a:spcAft>
              <a:buChar char="•"/>
              <a:defRPr sz="1088" b="1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088" b="1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SEGURIDAD DE DATOS Y PERMISOS POR ROL.</a:t>
            </a:r>
          </a:p>
        </p:txBody>
      </p:sp>
    </p:spTree>
    <p:extLst>
      <p:ext uri="{BB962C8B-B14F-4D97-AF65-F5344CB8AC3E}">
        <p14:creationId xmlns:p14="http://schemas.microsoft.com/office/powerpoint/2010/main" val="119189778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3fb86e1494e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427BC8-EEE6-4B5B-9BF5-00F64A08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295400"/>
            <a:ext cx="74295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8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3EC109-C42D-4573-8BF4-508A2DB2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685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9374D"/>
                </a:solidFill>
                <a:latin typeface="Century"/>
                <a:ea typeface="Century"/>
                <a:cs typeface="Century"/>
              </a:defRPr>
            </a:pPr>
            <a:r>
              <a:rPr sz="2400" b="0">
                <a:solidFill>
                  <a:srgbClr val="19374D"/>
                </a:solidFill>
                <a:latin typeface="Century"/>
                <a:ea typeface="Century"/>
                <a:cs typeface="Century"/>
              </a:rPr>
              <a:t>Objetivo general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FEC4D-C1F9-43D5-82FE-160BECB6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71675"/>
            <a:ext cx="695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74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9374D"/>
                </a:solidFill>
                <a:latin typeface="Calibri"/>
                <a:ea typeface="Calibri"/>
                <a:cs typeface="Calibri"/>
              </a:rPr>
              <a:t>Diseñar e implementar una aplicación Android para talleres que centralice la recepción del vehículo y la información del diagnóstico OBD-II, mantenga su trazabilidad y apoye el análisis mediante un chatbot dirigido al personal del taller.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A6429-448D-455A-8C5E-D450170D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95750"/>
            <a:ext cx="73342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8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E061D-C27E-4488-BA37-F653821D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71950"/>
            <a:ext cx="71247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15900" indent="-101600" algn="l">
              <a:spcAft>
                <a:spcPts val="700"/>
              </a:spcAft>
              <a:buChar char="•"/>
              <a:defRPr sz="1313" b="0">
                <a:solidFill>
                  <a:srgbClr val="19374D"/>
                </a:solidFill>
                <a:latin typeface="Calibri"/>
                <a:ea typeface="Calibri"/>
                <a:cs typeface="Calibri"/>
              </a:defRPr>
            </a:pPr>
            <a:r>
              <a:rPr sz="1313" b="0">
                <a:solidFill>
                  <a:srgbClr val="19374D"/>
                </a:solidFill>
                <a:latin typeface="Calibri"/>
                <a:ea typeface="Calibri"/>
                <a:cs typeface="Calibri"/>
              </a:rPr>
              <a:t>Gestionar el acceso de administradores, recepción y mecánicos mediante roles.</a:t>
            </a:r>
          </a:p>
          <a:p xmlns:a="http://schemas.openxmlformats.org/drawingml/2006/main">
            <a:pPr marL="215900" indent="-101600" algn="l">
              <a:spcAft>
                <a:spcPts val="700"/>
              </a:spcAft>
              <a:buChar char="•"/>
              <a:defRPr sz="1313" b="0">
                <a:solidFill>
                  <a:srgbClr val="19374D"/>
                </a:solidFill>
                <a:latin typeface="Calibri"/>
                <a:ea typeface="Calibri"/>
                <a:cs typeface="Calibri"/>
              </a:defRPr>
            </a:pPr>
            <a:r>
              <a:rPr sz="1313" b="0">
                <a:solidFill>
                  <a:srgbClr val="19374D"/>
                </a:solidFill>
                <a:latin typeface="Calibri"/>
                <a:ea typeface="Calibri"/>
                <a:cs typeface="Calibri"/>
              </a:rPr>
              <a:t>Registrar clientes, vehículos, motivos de ingreso y casos de diagnóstico.</a:t>
            </a:r>
          </a:p>
          <a:p xmlns:a="http://schemas.openxmlformats.org/drawingml/2006/main">
            <a:pPr marL="215900" indent="-101600" algn="l">
              <a:spcAft>
                <a:spcPts val="700"/>
              </a:spcAft>
              <a:buChar char="•"/>
              <a:defRPr sz="1313" b="0">
                <a:solidFill>
                  <a:srgbClr val="19374D"/>
                </a:solidFill>
                <a:latin typeface="Calibri"/>
                <a:ea typeface="Calibri"/>
                <a:cs typeface="Calibri"/>
              </a:defRPr>
            </a:pPr>
            <a:r>
              <a:rPr sz="1313" b="0">
                <a:solidFill>
                  <a:srgbClr val="19374D"/>
                </a:solidFill>
                <a:latin typeface="Calibri"/>
                <a:ea typeface="Calibri"/>
                <a:cs typeface="Calibri"/>
              </a:rPr>
              <a:t>Conectar el escáner ELM327 para leer e interpretar información OBD-II.</a:t>
            </a:r>
          </a:p>
          <a:p xmlns:a="http://schemas.openxmlformats.org/drawingml/2006/main">
            <a:pPr marL="215900" indent="-101600" algn="l">
              <a:spcAft>
                <a:spcPts val="700"/>
              </a:spcAft>
              <a:buChar char="•"/>
              <a:defRPr sz="1313" b="0">
                <a:solidFill>
                  <a:srgbClr val="19374D"/>
                </a:solidFill>
                <a:latin typeface="Calibri"/>
                <a:ea typeface="Calibri"/>
                <a:cs typeface="Calibri"/>
              </a:defRPr>
            </a:pPr>
            <a:r>
              <a:rPr sz="1313" b="0">
                <a:solidFill>
                  <a:srgbClr val="19374D"/>
                </a:solidFill>
                <a:latin typeface="Calibri"/>
                <a:ea typeface="Calibri"/>
                <a:cs typeface="Calibri"/>
              </a:rPr>
              <a:t>Conservar evidencias e historial asociados a cada vehículo y diagnóstico.</a:t>
            </a:r>
          </a:p>
          <a:p xmlns:a="http://schemas.openxmlformats.org/drawingml/2006/main">
            <a:pPr marL="215900" indent="-101600" algn="l">
              <a:spcAft>
                <a:spcPts val="700"/>
              </a:spcAft>
              <a:buChar char="•"/>
              <a:defRPr sz="1313" b="0">
                <a:solidFill>
                  <a:srgbClr val="19374D"/>
                </a:solidFill>
                <a:latin typeface="Calibri"/>
                <a:ea typeface="Calibri"/>
                <a:cs typeface="Calibri"/>
              </a:defRPr>
            </a:pPr>
            <a:r>
              <a:rPr sz="1313" b="0">
                <a:solidFill>
                  <a:srgbClr val="19374D"/>
                </a:solidFill>
                <a:latin typeface="Calibri"/>
                <a:ea typeface="Calibri"/>
                <a:cs typeface="Calibri"/>
              </a:rPr>
              <a:t>Asignar casos al personal mecánico y apoyar la organización del trabajo.</a:t>
            </a:r>
          </a:p>
          <a:p xmlns:a="http://schemas.openxmlformats.org/drawingml/2006/main">
            <a:pPr marL="215900" indent="-101600" algn="l">
              <a:spcAft>
                <a:spcPts val="700"/>
              </a:spcAft>
              <a:buChar char="•"/>
              <a:defRPr sz="1313" b="0">
                <a:solidFill>
                  <a:srgbClr val="19374D"/>
                </a:solidFill>
                <a:latin typeface="Calibri"/>
                <a:ea typeface="Calibri"/>
                <a:cs typeface="Calibri"/>
              </a:defRPr>
            </a:pPr>
            <a:r>
              <a:rPr sz="1313" b="0">
                <a:solidFill>
                  <a:srgbClr val="19374D"/>
                </a:solidFill>
                <a:latin typeface="Calibri"/>
                <a:ea typeface="Calibri"/>
                <a:cs typeface="Calibri"/>
              </a:rPr>
              <a:t>Integrar un chatbot de apoyo y validar el sistema con pruebas automatizadas y vehículos reales.</a:t>
            </a:r>
          </a:p>
        </p:txBody>
      </p:sp>
    </p:spTree>
    <p:extLst>
      <p:ext uri="{BB962C8B-B14F-4D97-AF65-F5344CB8AC3E}">
        <p14:creationId xmlns:p14="http://schemas.microsoft.com/office/powerpoint/2010/main" val="169920121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2f8b721b2b44f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2D6AA-2832-4C06-9C6A-4ACE22A6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57400"/>
            <a:ext cx="48006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DF16BC-A059-4D81-ABE6-20502E47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907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SCRUM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3FFD79-B78A-4E3F-A9D6-C9C6F32B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05150"/>
            <a:ext cx="436245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313" b="0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313" b="0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Desarrollo incremental por sprints.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313" b="0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313" b="0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Backlog organizado por módulos funcionales.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313" b="0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313" b="0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Revisión periódica del repositorio y los avances.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313" b="0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313" b="0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Priorización según el flujo del taller y el valor para sus usuarios.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313" b="0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313" b="0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Integración progresiva de pantallas, servicios y backend.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8CB8DB-1834-49FF-AC0C-D3B660A3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57400"/>
            <a:ext cx="5572125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9FAB0A-CF96-44F2-88A2-3E78A766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90750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VALIDACIÓN DEL SISTEMA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9F5CA-17A1-4C60-9DD0-066ACEA4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05150"/>
            <a:ext cx="481012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313" b="0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313" b="0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Pruebas unitarias de reglas del sistema e interpretación OBD-II.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313" b="0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313" b="0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Validación de Bluetooth y ELM327 en vehículos reales.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313" b="0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313" b="0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Pruebas de autenticación, roles y persistencia de información.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313" b="0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313" b="0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Comprobación del flujo desde recepción hasta el mecánico.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313" b="0">
                <a:solidFill>
                  <a:srgbClr val="F8FBFC"/>
                </a:solidFill>
                <a:latin typeface="Calibri"/>
                <a:ea typeface="Calibri"/>
                <a:cs typeface="Calibri"/>
              </a:defRPr>
            </a:pPr>
            <a:r>
              <a:rPr sz="1313" b="0">
                <a:solidFill>
                  <a:srgbClr val="F8FBFC"/>
                </a:solidFill>
                <a:latin typeface="Calibri"/>
                <a:ea typeface="Calibri"/>
                <a:cs typeface="Calibri"/>
              </a:rPr>
              <a:t>Registro de fallas y regresión antes de cada entrega.</a:t>
            </a:r>
          </a:p>
        </p:txBody>
      </p:sp>
    </p:spTree>
    <p:extLst>
      <p:ext uri="{BB962C8B-B14F-4D97-AF65-F5344CB8AC3E}">
        <p14:creationId xmlns:p14="http://schemas.microsoft.com/office/powerpoint/2010/main" val="96961899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953eb5d12941e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673A8-8B10-4DDC-B6E1-532DCCA6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09875"/>
            <a:ext cx="13144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BAC4C-876D-413E-A798-E29EF549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09875"/>
            <a:ext cx="30384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CF62B-9969-470F-B354-E4A9464E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809875"/>
            <a:ext cx="5524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AC5FD-F846-4575-A380-7170FB53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1123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9374D"/>
                </a:solidFill>
                <a:latin typeface="Calibri"/>
                <a:ea typeface="Calibri"/>
                <a:cs typeface="Calibri"/>
              </a:defRPr>
            </a:pPr>
            <a:r>
              <a:rPr sz="1013" b="1">
                <a:solidFill>
                  <a:srgbClr val="19374D"/>
                </a:solidFill>
                <a:latin typeface="Calibri"/>
                <a:ea typeface="Calibri"/>
                <a:cs typeface="Calibri"/>
              </a:rPr>
              <a:t>Avance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22784-9B52-4879-A156-BD0CE463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914650"/>
            <a:ext cx="2752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35" b="1">
                <a:solidFill>
                  <a:srgbClr val="19374D"/>
                </a:solidFill>
                <a:latin typeface="Calibri"/>
                <a:ea typeface="Calibri"/>
                <a:cs typeface="Calibri"/>
              </a:defRPr>
            </a:pPr>
            <a:r>
              <a:rPr sz="1035" b="1">
                <a:solidFill>
                  <a:srgbClr val="19374D"/>
                </a:solidFill>
                <a:latin typeface="Calibri"/>
                <a:ea typeface="Calibri"/>
                <a:cs typeface="Calibri"/>
              </a:rPr>
              <a:t>Conexión y gestión del escáner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A5DDF1-A006-46EE-8B5C-0CD65160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86075"/>
            <a:ext cx="5191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9374D"/>
                </a:solidFill>
                <a:latin typeface="Calibri"/>
                <a:ea typeface="Calibri"/>
                <a:cs typeface="Calibri"/>
              </a:defRPr>
            </a:pPr>
            <a:r>
              <a:rPr sz="990" b="0">
                <a:solidFill>
                  <a:srgbClr val="19374D"/>
                </a:solidFill>
                <a:latin typeface="Calibri"/>
                <a:ea typeface="Calibri"/>
                <a:cs typeface="Calibri"/>
              </a:rPr>
              <a:t>Búsqueda Bluetooth/BLE, selección del dispositivo y comunicación con el servicio ELM327.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3726B4-114E-4CED-A0D3-FD3DB09D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10000"/>
            <a:ext cx="13144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9706AA-C29A-4B94-B370-3252F09E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10000"/>
            <a:ext cx="30384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7D014-94BF-4B13-9DD1-60A4C1B7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810000"/>
            <a:ext cx="5524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E98FC-42F8-4F14-B6C9-F2116223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43350"/>
            <a:ext cx="1123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9374D"/>
                </a:solidFill>
                <a:latin typeface="Calibri"/>
                <a:ea typeface="Calibri"/>
                <a:cs typeface="Calibri"/>
              </a:defRPr>
            </a:pPr>
            <a:r>
              <a:rPr sz="1013" b="1">
                <a:solidFill>
                  <a:srgbClr val="19374D"/>
                </a:solidFill>
                <a:latin typeface="Calibri"/>
                <a:ea typeface="Calibri"/>
                <a:cs typeface="Calibri"/>
              </a:rPr>
              <a:t>Avance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7A2D47-80D0-4690-9139-8377D646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914775"/>
            <a:ext cx="2752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35" b="1">
                <a:solidFill>
                  <a:srgbClr val="19374D"/>
                </a:solidFill>
                <a:latin typeface="Calibri"/>
                <a:ea typeface="Calibri"/>
                <a:cs typeface="Calibri"/>
              </a:defRPr>
            </a:pPr>
            <a:r>
              <a:rPr sz="1035" b="1">
                <a:solidFill>
                  <a:srgbClr val="19374D"/>
                </a:solidFill>
                <a:latin typeface="Calibri"/>
                <a:ea typeface="Calibri"/>
                <a:cs typeface="Calibri"/>
              </a:rPr>
              <a:t>Lectura e interpretación OBD-II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456EA6-4624-4959-93FB-89584F85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86200"/>
            <a:ext cx="5191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9374D"/>
                </a:solidFill>
                <a:latin typeface="Calibri"/>
                <a:ea typeface="Calibri"/>
                <a:cs typeface="Calibri"/>
              </a:defRPr>
            </a:pPr>
            <a:r>
              <a:rPr sz="990" b="0">
                <a:solidFill>
                  <a:srgbClr val="19374D"/>
                </a:solidFill>
                <a:latin typeface="Calibri"/>
                <a:ea typeface="Calibri"/>
                <a:cs typeface="Calibri"/>
              </a:rPr>
              <a:t>Identificación del vehículo, detección de parámetros compatibles y lectura de datos y códigos de falla.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C1298C-4DD4-438F-B959-B00C8051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81550"/>
            <a:ext cx="13144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9A1871-B78A-490C-967E-07F22469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81550"/>
            <a:ext cx="30384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683C14-D549-46BD-9C6A-DB2DA3B2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781550"/>
            <a:ext cx="5524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092C96-CF88-4142-ADAB-AFA45DC3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14900"/>
            <a:ext cx="1123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9374D"/>
                </a:solidFill>
                <a:latin typeface="Calibri"/>
                <a:ea typeface="Calibri"/>
                <a:cs typeface="Calibri"/>
              </a:defRPr>
            </a:pPr>
            <a:r>
              <a:rPr sz="1013" b="1">
                <a:solidFill>
                  <a:srgbClr val="19374D"/>
                </a:solidFill>
                <a:latin typeface="Calibri"/>
                <a:ea typeface="Calibri"/>
                <a:cs typeface="Calibri"/>
              </a:rPr>
              <a:t>Avance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9114BD-EFF0-42D0-9F30-0A46B727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886325"/>
            <a:ext cx="2752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35" b="1">
                <a:solidFill>
                  <a:srgbClr val="19374D"/>
                </a:solidFill>
                <a:latin typeface="Calibri"/>
                <a:ea typeface="Calibri"/>
                <a:cs typeface="Calibri"/>
              </a:defRPr>
            </a:pPr>
            <a:r>
              <a:rPr sz="1035" b="1">
                <a:solidFill>
                  <a:srgbClr val="19374D"/>
                </a:solidFill>
                <a:latin typeface="Calibri"/>
                <a:ea typeface="Calibri"/>
                <a:cs typeface="Calibri"/>
              </a:rPr>
              <a:t>Pruebas automatizadas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9025C3-752C-4039-B904-524EA409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57750"/>
            <a:ext cx="5191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9374D"/>
                </a:solidFill>
                <a:latin typeface="Calibri"/>
                <a:ea typeface="Calibri"/>
                <a:cs typeface="Calibri"/>
              </a:defRPr>
            </a:pPr>
            <a:r>
              <a:rPr sz="990" b="0">
                <a:solidFill>
                  <a:srgbClr val="19374D"/>
                </a:solidFill>
                <a:latin typeface="Calibri"/>
                <a:ea typeface="Calibri"/>
                <a:cs typeface="Calibri"/>
              </a:rPr>
              <a:t>Validación de servicios, interpretación de respuestas, manejo de errores y regresiones.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6158D6-F856-4CAA-8003-5E8F2699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62625"/>
            <a:ext cx="13144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CB41B1-9670-4234-9914-829E60EA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762625"/>
            <a:ext cx="30384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E23C47-B0ED-4EE5-8132-AE3CF4FB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5762625"/>
            <a:ext cx="5524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30F135-DDD0-4025-9E59-C1C996F5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895975"/>
            <a:ext cx="1123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46A36D"/>
                </a:solidFill>
                <a:latin typeface="Calibri"/>
                <a:ea typeface="Calibri"/>
                <a:cs typeface="Calibri"/>
              </a:defRPr>
            </a:pPr>
            <a:r>
              <a:rPr sz="1013" b="1">
                <a:solidFill>
                  <a:srgbClr val="46A36D"/>
                </a:solidFill>
                <a:latin typeface="Calibri"/>
                <a:ea typeface="Calibri"/>
                <a:cs typeface="Calibri"/>
              </a:rPr>
              <a:t>Validación real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A85E37-9D6B-4880-84DB-63B8CC1A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867400"/>
            <a:ext cx="2752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35" b="1">
                <a:solidFill>
                  <a:srgbClr val="19374D"/>
                </a:solidFill>
                <a:latin typeface="Calibri"/>
                <a:ea typeface="Calibri"/>
                <a:cs typeface="Calibri"/>
              </a:defRPr>
            </a:pPr>
            <a:r>
              <a:rPr sz="1035" b="1">
                <a:solidFill>
                  <a:srgbClr val="19374D"/>
                </a:solidFill>
                <a:latin typeface="Calibri"/>
                <a:ea typeface="Calibri"/>
                <a:cs typeface="Calibri"/>
              </a:rPr>
              <a:t>Núcleo OBD-II validado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5D1BD7-3C24-4B3B-8DD6-4C957063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838825"/>
            <a:ext cx="5191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9374D"/>
                </a:solidFill>
                <a:latin typeface="Calibri"/>
                <a:ea typeface="Calibri"/>
                <a:cs typeface="Calibri"/>
              </a:defRPr>
            </a:pPr>
            <a:r>
              <a:rPr sz="990" b="0">
                <a:solidFill>
                  <a:srgbClr val="19374D"/>
                </a:solidFill>
                <a:latin typeface="Calibri"/>
                <a:ea typeface="Calibri"/>
                <a:cs typeface="Calibri"/>
              </a:rPr>
              <a:t>Conexión, identificación, parámetros y DTC comprobados en vehículos reales. Continúa la integración del sistema de taller.</a:t>
            </a:r>
          </a:p>
        </p:txBody>
      </p:sp>
    </p:spTree>
    <p:extLst>
      <p:ext uri="{BB962C8B-B14F-4D97-AF65-F5344CB8AC3E}">
        <p14:creationId xmlns:p14="http://schemas.microsoft.com/office/powerpoint/2010/main" val="123403140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c27b7077834c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48A920-6E07-4AAD-9C38-7DB07142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00350"/>
            <a:ext cx="27432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8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55D74B-A4EB-4156-BA05-74BA9E21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28925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088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Definición y arquitectura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612E5-E246-4638-A6E4-CC4CC3C4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62325"/>
            <a:ext cx="27432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8E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9D4BF-4484-429B-B2AC-63A29DB4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088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Núcleo OBD-II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2F86B-BBC0-44FB-B4D5-11E6C0AC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95725"/>
            <a:ext cx="27432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8E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D127E2-E97D-4A62-A353-D3667C33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088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Usuarios y datos del taller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97368-B470-4C0F-B0D1-4F71E9D4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86275"/>
            <a:ext cx="27432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8E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34199-3680-4FFF-A935-9FAB3C8A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088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Casos, asignación y chatbot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5E35F5-8C71-4BC3-BFB9-4FC73776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29200"/>
            <a:ext cx="27432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8E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237A2B-DF4B-4A1C-8B06-AAB9F0C5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57775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088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Integración y pruebas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87DABC-BC39-4637-93F2-4E75B5A9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562600"/>
            <a:ext cx="27432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8E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50FC06-263E-4A75-B515-5D3B0CB0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91175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088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Validación real y cierre</a:t>
            </a:r>
          </a:p>
        </p:txBody>
      </p:sp>
    </p:spTree>
    <p:extLst>
      <p:ext uri="{BB962C8B-B14F-4D97-AF65-F5344CB8AC3E}">
        <p14:creationId xmlns:p14="http://schemas.microsoft.com/office/powerpoint/2010/main" val="64983313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745fd64cdf442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8836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2026-09-11T06:22:17.2530000Z</dcterms:created>
  <dcterms:modified xsi:type="dcterms:W3CDTF">2026-09-11T06:22:17.2530000Z</dcterms:modified>
</coreProperties>
</file>